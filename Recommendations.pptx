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D10D1-65E8-40E7-929E-6B75620A487D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3BDB7-5D8B-42D2-9495-AAA09AB6C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9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3BDB7-5D8B-42D2-9495-AAA09AB6CC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7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42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06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5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2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32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9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9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2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23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995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4906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16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63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1729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2886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61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41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73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20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67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4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9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423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4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12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E21A1A6B-FA6A-44E4-BCD9-16D81CE1CAE9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3AA43489-26D9-4B68-A9CD-32CC1DDB2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5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6D6C1ED-EF7E-E843-A91F-455195E30F2A}"/>
              </a:ext>
            </a:extLst>
          </p:cNvPr>
          <p:cNvSpPr/>
          <p:nvPr/>
        </p:nvSpPr>
        <p:spPr>
          <a:xfrm>
            <a:off x="231042" y="2721264"/>
            <a:ext cx="5614231" cy="14591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C445FC-6B20-D3A1-DB39-35D7DB7B2851}"/>
              </a:ext>
            </a:extLst>
          </p:cNvPr>
          <p:cNvSpPr/>
          <p:nvPr/>
        </p:nvSpPr>
        <p:spPr>
          <a:xfrm>
            <a:off x="6341810" y="2683133"/>
            <a:ext cx="5614230" cy="14972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7B7891-836F-E832-A2FC-BA761A5569CF}"/>
              </a:ext>
            </a:extLst>
          </p:cNvPr>
          <p:cNvSpPr/>
          <p:nvPr/>
        </p:nvSpPr>
        <p:spPr>
          <a:xfrm>
            <a:off x="6341810" y="723612"/>
            <a:ext cx="5614231" cy="17679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3C2A52-96A1-2BEF-E3D6-D0ADA5BD9CD9}"/>
              </a:ext>
            </a:extLst>
          </p:cNvPr>
          <p:cNvSpPr/>
          <p:nvPr/>
        </p:nvSpPr>
        <p:spPr>
          <a:xfrm>
            <a:off x="231042" y="4584306"/>
            <a:ext cx="5614230" cy="14400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E9C11D-2F43-5113-3645-6D14C2376878}"/>
              </a:ext>
            </a:extLst>
          </p:cNvPr>
          <p:cNvSpPr/>
          <p:nvPr/>
        </p:nvSpPr>
        <p:spPr>
          <a:xfrm>
            <a:off x="231043" y="833610"/>
            <a:ext cx="5614230" cy="15700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BD1AE2-56F1-00B4-E17A-BC21358E6114}"/>
              </a:ext>
            </a:extLst>
          </p:cNvPr>
          <p:cNvSpPr/>
          <p:nvPr/>
        </p:nvSpPr>
        <p:spPr>
          <a:xfrm>
            <a:off x="3569109" y="128020"/>
            <a:ext cx="4306529" cy="5081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762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C39D7-3DFA-D371-49C4-11429282E559}"/>
              </a:ext>
            </a:extLst>
          </p:cNvPr>
          <p:cNvSpPr txBox="1"/>
          <p:nvPr/>
        </p:nvSpPr>
        <p:spPr>
          <a:xfrm>
            <a:off x="481769" y="1038205"/>
            <a:ext cx="448842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1- Overall Employee Attrition:</a:t>
            </a:r>
            <a:endParaRPr lang="en-US" dirty="0"/>
          </a:p>
          <a:p>
            <a:r>
              <a:rPr lang="en-US" i="1" dirty="0"/>
              <a:t> </a:t>
            </a:r>
            <a:r>
              <a:rPr lang="en-US" sz="1600" i="1" dirty="0"/>
              <a:t>The Company Has 1,500 employees , of whom 396 have left , resulting in an overall attrition rate of 26%.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AF846-7401-2707-69C1-EF0E4E61A1FD}"/>
              </a:ext>
            </a:extLst>
          </p:cNvPr>
          <p:cNvSpPr txBox="1"/>
          <p:nvPr/>
        </p:nvSpPr>
        <p:spPr>
          <a:xfrm flipH="1">
            <a:off x="3839496" y="174522"/>
            <a:ext cx="3824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Key 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BC909-C408-A77A-082C-FB2B82707D3D}"/>
              </a:ext>
            </a:extLst>
          </p:cNvPr>
          <p:cNvSpPr txBox="1"/>
          <p:nvPr/>
        </p:nvSpPr>
        <p:spPr>
          <a:xfrm>
            <a:off x="6695777" y="948449"/>
            <a:ext cx="472931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2- Attrition by Tenure:</a:t>
            </a:r>
          </a:p>
          <a:p>
            <a:r>
              <a:rPr lang="en-US" sz="1600" i="1" dirty="0"/>
              <a:t>Employees with 10 or more years of service have the highest attrition rate at 31% , compared with 24% for employees with 0-2 years of service</a:t>
            </a:r>
            <a:r>
              <a:rPr lang="en-US" i="1" dirty="0"/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41010-A068-4ACE-0F09-A378B0965FF6}"/>
              </a:ext>
            </a:extLst>
          </p:cNvPr>
          <p:cNvSpPr txBox="1"/>
          <p:nvPr/>
        </p:nvSpPr>
        <p:spPr>
          <a:xfrm>
            <a:off x="353949" y="2751890"/>
            <a:ext cx="511277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3- Attrition b job satisfaction:</a:t>
            </a:r>
          </a:p>
          <a:p>
            <a:r>
              <a:rPr lang="en-US" sz="1600" i="1" dirty="0"/>
              <a:t>Employees with job satisfaction levels of 1 and 2 have higher attrition rates(35% and 36%),than employees with satisfaction level of 3 and 4 (19% and 18%).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C1FB0-6807-30C9-E588-275ACDF7C3E1}"/>
              </a:ext>
            </a:extLst>
          </p:cNvPr>
          <p:cNvSpPr txBox="1"/>
          <p:nvPr/>
        </p:nvSpPr>
        <p:spPr>
          <a:xfrm>
            <a:off x="7079237" y="2751890"/>
            <a:ext cx="43458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4- Attrition by business travel:</a:t>
            </a:r>
          </a:p>
          <a:p>
            <a:r>
              <a:rPr lang="en-US" sz="1600" i="1" dirty="0"/>
              <a:t>Employees who travel frequently have the highest attrition rate at 30% , compared with 25% for employees who travel rarely.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86928-8719-28D2-69E0-0C95B82BC253}"/>
              </a:ext>
            </a:extLst>
          </p:cNvPr>
          <p:cNvSpPr txBox="1"/>
          <p:nvPr/>
        </p:nvSpPr>
        <p:spPr>
          <a:xfrm>
            <a:off x="481769" y="4870432"/>
            <a:ext cx="43458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5- Attrition by  Overtime :</a:t>
            </a:r>
          </a:p>
          <a:p>
            <a:r>
              <a:rPr lang="en-US" sz="1600" i="1" dirty="0"/>
              <a:t>Approximately 61% of employees who left the company had overtime responsibilities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262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080AE1-C529-5EF4-B07F-565B28A801C7}"/>
              </a:ext>
            </a:extLst>
          </p:cNvPr>
          <p:cNvSpPr/>
          <p:nvPr/>
        </p:nvSpPr>
        <p:spPr>
          <a:xfrm>
            <a:off x="2930013" y="127819"/>
            <a:ext cx="5879690" cy="5081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762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24384F-B3E0-242C-CD4D-F5A2856481BB}"/>
              </a:ext>
            </a:extLst>
          </p:cNvPr>
          <p:cNvSpPr/>
          <p:nvPr/>
        </p:nvSpPr>
        <p:spPr>
          <a:xfrm>
            <a:off x="6464693" y="3667430"/>
            <a:ext cx="5304519" cy="23400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18CE6-EAD7-686F-90B4-D8A2C7BD54B8}"/>
              </a:ext>
            </a:extLst>
          </p:cNvPr>
          <p:cNvSpPr/>
          <p:nvPr/>
        </p:nvSpPr>
        <p:spPr>
          <a:xfrm>
            <a:off x="6479456" y="1238448"/>
            <a:ext cx="5289756" cy="219055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93B5EB-39AB-CF2D-25B6-036AB14B0D24}"/>
              </a:ext>
            </a:extLst>
          </p:cNvPr>
          <p:cNvSpPr/>
          <p:nvPr/>
        </p:nvSpPr>
        <p:spPr>
          <a:xfrm>
            <a:off x="117971" y="1256486"/>
            <a:ext cx="5304519" cy="219055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39BA72-50C2-8518-0707-C2DB64DDBA17}"/>
              </a:ext>
            </a:extLst>
          </p:cNvPr>
          <p:cNvSpPr/>
          <p:nvPr/>
        </p:nvSpPr>
        <p:spPr>
          <a:xfrm>
            <a:off x="117971" y="3667430"/>
            <a:ext cx="5304519" cy="23400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84B45-06D5-E75C-AF85-2CD1A546DA6F}"/>
              </a:ext>
            </a:extLst>
          </p:cNvPr>
          <p:cNvSpPr txBox="1"/>
          <p:nvPr/>
        </p:nvSpPr>
        <p:spPr>
          <a:xfrm>
            <a:off x="3156155" y="127819"/>
            <a:ext cx="5879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Key Findings – Workforce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4800C-2FB4-21A0-CC59-04939A1F7571}"/>
              </a:ext>
            </a:extLst>
          </p:cNvPr>
          <p:cNvSpPr txBox="1"/>
          <p:nvPr/>
        </p:nvSpPr>
        <p:spPr>
          <a:xfrm>
            <a:off x="496519" y="1597711"/>
            <a:ext cx="4532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1- Department Distribution</a:t>
            </a:r>
            <a:r>
              <a:rPr lang="en-US" b="1" i="1" dirty="0"/>
              <a:t>:</a:t>
            </a:r>
          </a:p>
          <a:p>
            <a:r>
              <a:rPr lang="en-US" i="1" dirty="0"/>
              <a:t>Sales had the highest number of employees , while finance had the lowest.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272F7-CE34-FBC2-7C58-62D125F9D67A}"/>
              </a:ext>
            </a:extLst>
          </p:cNvPr>
          <p:cNvSpPr txBox="1"/>
          <p:nvPr/>
        </p:nvSpPr>
        <p:spPr>
          <a:xfrm>
            <a:off x="6744927" y="1597710"/>
            <a:ext cx="43851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2- Job Title Distribution</a:t>
            </a:r>
            <a:r>
              <a:rPr lang="en-US" b="1" i="1" dirty="0"/>
              <a:t>:</a:t>
            </a:r>
          </a:p>
          <a:p>
            <a:r>
              <a:rPr lang="en-US" i="1" dirty="0"/>
              <a:t>Customer service Representative was the most common job title , while Network technical was the least common </a:t>
            </a:r>
            <a:r>
              <a:rPr lang="en-US" sz="1600" i="1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C3BC9-8521-DC7F-8D8E-978DC36ED014}"/>
              </a:ext>
            </a:extLst>
          </p:cNvPr>
          <p:cNvSpPr txBox="1"/>
          <p:nvPr/>
        </p:nvSpPr>
        <p:spPr>
          <a:xfrm>
            <a:off x="577635" y="3933460"/>
            <a:ext cx="453267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3- Age Group Distribution:</a:t>
            </a:r>
          </a:p>
          <a:p>
            <a:r>
              <a:rPr lang="en-US" i="1" dirty="0"/>
              <a:t>Employees aged 25-34 formed the largest age group with 420 employees. While 55+ group represent the smallest age group with 253 employees 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089A7-DAFA-EF93-58D4-9277769E7D6E}"/>
              </a:ext>
            </a:extLst>
          </p:cNvPr>
          <p:cNvSpPr txBox="1"/>
          <p:nvPr/>
        </p:nvSpPr>
        <p:spPr>
          <a:xfrm>
            <a:off x="6619576" y="3933460"/>
            <a:ext cx="49947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4- salary Band Distribution:</a:t>
            </a:r>
          </a:p>
          <a:p>
            <a:r>
              <a:rPr lang="en-US" i="1" dirty="0"/>
              <a:t>The Very High Salary band represented 38.53%of employees , while the low salary band represented 13.07% .</a:t>
            </a:r>
          </a:p>
          <a:p>
            <a:r>
              <a:rPr lang="en-US" i="1" dirty="0"/>
              <a:t> 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70379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C71E7A-7218-FE4E-CE56-52CD807D2E0D}"/>
              </a:ext>
            </a:extLst>
          </p:cNvPr>
          <p:cNvSpPr/>
          <p:nvPr/>
        </p:nvSpPr>
        <p:spPr>
          <a:xfrm>
            <a:off x="2615364" y="184507"/>
            <a:ext cx="5879690" cy="5081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762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FDF4EA-1DDE-FC62-1C4B-D9230E580D37}"/>
              </a:ext>
            </a:extLst>
          </p:cNvPr>
          <p:cNvSpPr/>
          <p:nvPr/>
        </p:nvSpPr>
        <p:spPr>
          <a:xfrm>
            <a:off x="139112" y="5240512"/>
            <a:ext cx="11099160" cy="11388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D4B660-3CB6-CD49-D1C9-17F9000671A5}"/>
              </a:ext>
            </a:extLst>
          </p:cNvPr>
          <p:cNvSpPr/>
          <p:nvPr/>
        </p:nvSpPr>
        <p:spPr>
          <a:xfrm>
            <a:off x="136175" y="2526522"/>
            <a:ext cx="6610231" cy="106096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2D1E86-2EBB-A431-889B-A9FEF8CF7E65}"/>
              </a:ext>
            </a:extLst>
          </p:cNvPr>
          <p:cNvSpPr/>
          <p:nvPr/>
        </p:nvSpPr>
        <p:spPr>
          <a:xfrm>
            <a:off x="77902" y="3885412"/>
            <a:ext cx="6628435" cy="10315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1B8CDC-A04F-C5AF-1541-1A58F0A7240B}"/>
              </a:ext>
            </a:extLst>
          </p:cNvPr>
          <p:cNvSpPr/>
          <p:nvPr/>
        </p:nvSpPr>
        <p:spPr>
          <a:xfrm>
            <a:off x="117971" y="1327355"/>
            <a:ext cx="6548300" cy="10315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632E51-2AE3-9BE0-3A7D-6BD90C91F71D}"/>
              </a:ext>
            </a:extLst>
          </p:cNvPr>
          <p:cNvSpPr txBox="1"/>
          <p:nvPr/>
        </p:nvSpPr>
        <p:spPr>
          <a:xfrm>
            <a:off x="3549445" y="176981"/>
            <a:ext cx="4139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AF548-9161-1A52-FCB5-36E6E9E28C8D}"/>
              </a:ext>
            </a:extLst>
          </p:cNvPr>
          <p:cNvSpPr txBox="1"/>
          <p:nvPr/>
        </p:nvSpPr>
        <p:spPr>
          <a:xfrm>
            <a:off x="491614" y="1327354"/>
            <a:ext cx="5899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1- Improve employee Retention:</a:t>
            </a:r>
          </a:p>
          <a:p>
            <a:r>
              <a:rPr lang="en-US" sz="1400" i="1" dirty="0"/>
              <a:t>Investigate the reasons behind the high attrition rate among employees with 10 or more years of service . And review opportunities for career development and promotion</a:t>
            </a:r>
            <a:r>
              <a:rPr lang="en-US" sz="1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CB857-722B-5315-D995-1D094837DBC7}"/>
              </a:ext>
            </a:extLst>
          </p:cNvPr>
          <p:cNvSpPr txBox="1"/>
          <p:nvPr/>
        </p:nvSpPr>
        <p:spPr>
          <a:xfrm>
            <a:off x="462116" y="2655689"/>
            <a:ext cx="6174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2- Improve Job Satisfaction :</a:t>
            </a:r>
          </a:p>
          <a:p>
            <a:r>
              <a:rPr lang="en-US" sz="1400" i="1" dirty="0"/>
              <a:t>Investigate the factors contributing to low job satisfaction and develop initiatives to improve employee satisfaction and retention.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2E8CF-C388-E1F2-4FBB-62DE1CAE0FB9}"/>
              </a:ext>
            </a:extLst>
          </p:cNvPr>
          <p:cNvSpPr txBox="1"/>
          <p:nvPr/>
        </p:nvSpPr>
        <p:spPr>
          <a:xfrm>
            <a:off x="363054" y="4095539"/>
            <a:ext cx="63727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3- Review Workload And Business Travel:</a:t>
            </a:r>
          </a:p>
          <a:p>
            <a:r>
              <a:rPr lang="en-US" sz="1400" i="1" dirty="0"/>
              <a:t>Review overtime workload and frequent business travel to identify potential factors contributing to employee attrition and improve working conditions</a:t>
            </a:r>
            <a:r>
              <a:rPr lang="en-US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5AA70-29CE-8AA2-39A8-320769C50334}"/>
              </a:ext>
            </a:extLst>
          </p:cNvPr>
          <p:cNvSpPr txBox="1"/>
          <p:nvPr/>
        </p:nvSpPr>
        <p:spPr>
          <a:xfrm>
            <a:off x="363054" y="5374846"/>
            <a:ext cx="1059008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4- Monitor Employee Attrition:</a:t>
            </a:r>
          </a:p>
          <a:p>
            <a:r>
              <a:rPr lang="en-US" sz="1400" i="1" dirty="0"/>
              <a:t>Monitor attrition rate regularly by department job title , and tenure group to identify emerging trends and evaluate the effectiveness of employee retention initiatives</a:t>
            </a:r>
            <a:r>
              <a:rPr lang="en-US" sz="1600" dirty="0"/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8D67FE-8473-2A53-7444-9C24E732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086" y="1213391"/>
            <a:ext cx="3097184" cy="1199771"/>
          </a:xfrm>
          <a:prstGeom prst="rect">
            <a:avLst/>
          </a:prstGeom>
        </p:spPr>
      </p:pic>
      <p:pic>
        <p:nvPicPr>
          <p:cNvPr id="21" name="Graphic 20" descr="Circle with left arrow with solid fill">
            <a:extLst>
              <a:ext uri="{FF2B5EF4-FFF2-40B4-BE49-F238E27FC236}">
                <a16:creationId xmlns:a16="http://schemas.microsoft.com/office/drawing/2014/main" id="{0219661A-DE8E-AA71-F025-824B78A22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915017" y="1448280"/>
            <a:ext cx="773809" cy="7738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4832B82-DB18-2E4A-25AD-81020720C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084" y="2630671"/>
            <a:ext cx="3097186" cy="1060968"/>
          </a:xfrm>
          <a:prstGeom prst="rect">
            <a:avLst/>
          </a:prstGeom>
        </p:spPr>
      </p:pic>
      <p:pic>
        <p:nvPicPr>
          <p:cNvPr id="25" name="Graphic 24" descr="Circle with left arrow with solid fill">
            <a:extLst>
              <a:ext uri="{FF2B5EF4-FFF2-40B4-BE49-F238E27FC236}">
                <a16:creationId xmlns:a16="http://schemas.microsoft.com/office/drawing/2014/main" id="{DF2D80E0-CDC8-5F6E-66F4-024A60D17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962714" y="2691802"/>
            <a:ext cx="773809" cy="773809"/>
          </a:xfrm>
          <a:prstGeom prst="rect">
            <a:avLst/>
          </a:prstGeom>
        </p:spPr>
      </p:pic>
      <p:pic>
        <p:nvPicPr>
          <p:cNvPr id="27" name="Graphic 26" descr="Circle with left arrow with solid fill">
            <a:extLst>
              <a:ext uri="{FF2B5EF4-FFF2-40B4-BE49-F238E27FC236}">
                <a16:creationId xmlns:a16="http://schemas.microsoft.com/office/drawing/2014/main" id="{B992569B-41C5-1CA9-BB97-8F09B0685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962713" y="3996990"/>
            <a:ext cx="773809" cy="7738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2B5C205-B52A-1E29-91CB-70386EB25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085" y="3909149"/>
            <a:ext cx="3097185" cy="113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1543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205</TotalTime>
  <Words>366</Words>
  <Application>Microsoft Office PowerPoint</Application>
  <PresentationFormat>Widescreen</PresentationFormat>
  <Paragraphs>31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Neue Haas Grotesk Text Pro</vt:lpstr>
      <vt:lpstr>Dune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Adel</dc:creator>
  <cp:lastModifiedBy>Mohamed Adel</cp:lastModifiedBy>
  <cp:revision>1</cp:revision>
  <dcterms:created xsi:type="dcterms:W3CDTF">2026-10-14T23:56:46Z</dcterms:created>
  <dcterms:modified xsi:type="dcterms:W3CDTF">2026-10-15T03:21:56Z</dcterms:modified>
</cp:coreProperties>
</file>